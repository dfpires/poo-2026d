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7"/>
                </a:solidFill>
                <a:latin typeface="Segoe UI"/>
              </a:rPr>
              <a:t>API REST com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Arquitetura em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D700"/>
                </a:solidFill>
                <a:latin typeface="Segoe UI"/>
              </a:rPr>
              <a:t>Model  ·  Repository  ·  Service  · 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2103120" cy="5486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5303520"/>
            <a:ext cx="2103120" cy="54864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5303520"/>
            <a:ext cx="210312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5303520"/>
            <a:ext cx="2103120" cy="54864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  <a:latin typeface="Segoe UI"/>
              </a:rPr>
              <a:t>Fatec Franca  —  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Visão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Sistema de cadastro de produtos com herança e relacionamentos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06040" cy="173736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Categoria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Agrupa produtos
em categorias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06040" cy="17373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Produto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Entidade base
com herança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606040" cy="1737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5087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ProdutoFísico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03120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Herda Produto
+ peso (Float)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63040"/>
            <a:ext cx="2606040" cy="17373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5087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ProdutoVirtual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03120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Herda Produto
+ pago (Boolean)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965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65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965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11247120" cy="960120"/>
          </a:xfrm>
          <a:prstGeom prst="rect">
            <a:avLst/>
          </a:prstGeom>
          <a:solidFill>
            <a:srgbClr val="D6E4F7"/>
          </a:solidFill>
          <a:ln w="1270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93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D5A"/>
                </a:solidFill>
                <a:latin typeface="Segoe UI"/>
              </a:rPr>
              <a:t>🔗  Categoria  →  Produto   :   1 para N  (uma categoria tem vários produtos)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D5A"/>
                </a:solidFill>
                <a:latin typeface="Segoe UI"/>
              </a:rPr>
              <a:t>🧬  Produto  →  ProdutoFísico / ProdutoVirtual   :   Herança JOINED (tabelas separadas)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Spring Boot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9152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59152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Spring Data JPA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4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61104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Hibernate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63056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Java 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4617720"/>
            <a:ext cx="173736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Maven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07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Stack Tecnológico: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112471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Fluxo de camadas: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715000"/>
            <a:ext cx="2286000" cy="54864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715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760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5715000"/>
            <a:ext cx="228600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0" y="5715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760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715000"/>
            <a:ext cx="2286000" cy="54864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0" y="5715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760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5715000"/>
            <a:ext cx="2286000" cy="5486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95360" y="5715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Banco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Por que usar Arquitetura em Camadas?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Separation of Concerns — cada camada tem uma única responsabilidade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105156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Segoe UI"/>
              </a:rPr>
              <a:t>Recebe a requisição HTTP
Repassa ao Service
Devolve a resposta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2377440" cy="10515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974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Segoe UI"/>
              </a:rPr>
              <a:t>Contém a lógica de negócio
Valida dados
Controla transações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2377440" cy="105156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8862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Segoe UI"/>
              </a:rPr>
              <a:t>Acessa o banco de dados
Executa queries SQL/JPQL
Usa Spring Data JPA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39E"/>
                </a:solidFill>
                <a:latin typeface="Segoe U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2377440" cy="10515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9834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749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Segoe UI"/>
              </a:rPr>
              <a:t>Representa as entidades
Mapeia tabelas com JPA
Define relacionamentos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172200"/>
            <a:ext cx="1133856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D5A"/>
                </a:solidFill>
                <a:latin typeface="Segoe UI"/>
              </a:rPr>
              <a:t>✔ Fácil manutenção    ✔ Reaproveitamento de código    ✔ Testabilidade    ✔ Código mais organizado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Model —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Entidade JPA mapeada para a tabela "categorias"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85216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577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@Entity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@Table(name = "categorias")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public class Categoria {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@Id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@GeneratedValue(strategy = GenerationType.IDENTITY)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Long id;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@Column(nullable = false)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String nome;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@OneToMany(mappedBy = "categoria", cascade = CascadeType.ALL)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@JsonIgnoreProperties("categoria")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List&lt;Produto&gt; produtos;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210312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Informa ao JPA que esta
classe é uma entidade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2103120" cy="6858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1762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Define o nome da tabela
no banco de dados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80944"/>
            <a:ext cx="2103120" cy="68580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98094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@Id + @GeneratedValue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809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Chave primária gerada
automaticamente pelo banco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785616"/>
            <a:ext cx="2103120" cy="685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785616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@Column(nullable)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785616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Campo obrigatório;
não aceita nulo no banco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590288"/>
            <a:ext cx="2103120" cy="68580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59028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@OneToMany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902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Uma Categoria tem
muitos Produtos (1:N)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94960"/>
            <a:ext cx="2103120" cy="685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53949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@JsonIgnoreProperties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3949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Evita loop infinito
na serialização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Model —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Classe pai com herança JOINED e discriminador de 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852160" cy="521208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@Entity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@Table(name = "produtos")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@Inheritance(strategy = InheritanceType.JOINED)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@DiscriminatorColumn(name = "tipo",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discriminatorType = DiscriminatorType.STRING)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public class Produto {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@Id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@GeneratedValue(strategy = GenerationType.IDENTITY)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Long id;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@Column(nullable = false)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String nome;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@Column(nullable = false)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Double preco;</a:t>
            </a:r>
          </a:p>
          <a:p>
            <a:pPr algn="l"/>
            <a:endParaRPr sz="12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@ManyToOne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@JoinColumn(name = "categoria_id")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@JsonIgnoreProperties("produtos")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    private Categoria categoria;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94960" cy="2011680"/>
          </a:xfrm>
          <a:prstGeom prst="rect">
            <a:avLst/>
          </a:prstGeom>
          <a:solidFill>
            <a:srgbClr val="D6E4F7"/>
          </a:solidFill>
          <a:ln w="1270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D5A"/>
                </a:solidFill>
                <a:latin typeface="Segoe UI"/>
              </a:rPr>
              <a:t>Estratégia de Herança: JOINED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•  Tabela "produtos" guarda os campos comuns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•  Tabelas filhas guardam apenas os campos extras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•  As tabelas se unem pelo id compartilhado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•  Coluna "tipo" identifica se é físico ou virtual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20440"/>
            <a:ext cx="5394960" cy="1371600"/>
          </a:xfrm>
          <a:prstGeom prst="rect">
            <a:avLst/>
          </a:prstGeom>
          <a:solidFill>
            <a:srgbClr val="FFF8E1"/>
          </a:solidFill>
          <a:ln w="190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5E00"/>
                </a:solidFill>
                <a:latin typeface="Segoe UI"/>
              </a:rPr>
              <a:t>Tabelas geradas no banco: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86200"/>
            <a:ext cx="5394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40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produtos       → id, nome, preco, descricao, categoria_id, tipo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produtos_fisicos  → id (FK), peso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produtos_virtuais → id (FK), pago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029200"/>
            <a:ext cx="5394960" cy="1005840"/>
          </a:xfrm>
          <a:prstGeom prst="rect">
            <a:avLst/>
          </a:prstGeom>
          <a:solidFill>
            <a:srgbClr val="F0E8FF"/>
          </a:solidFill>
          <a:ln w="1270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5074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D8E"/>
                </a:solidFill>
                <a:latin typeface="Segoe UI"/>
              </a:rPr>
              <a:t>@ManyToOne + @JoinColumn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94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Muitos Produtos pertencem a uma Categoria.
@JoinColumn cria a coluna "categoria_id" na tabela.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Model — Subclasses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ProdutoFísico e ProdutoVirtual herdam de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ProdutoFísico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303520" cy="233172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502920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@Entity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@Table(name = "produtos_fisicos")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@DiscriminatorValue("fisico")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public class ProdutoFisico extends Produto {</a:t>
            </a:r>
          </a:p>
          <a:p>
            <a:pPr algn="l"/>
            <a:endParaRPr sz="13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    private Float peso;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4114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ProdutoVirtual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394960" cy="233172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20"/>
            <a:ext cx="5120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@Entity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@Table(name = "produtos_virtuais")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@DiscriminatorValue("virtual")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public class ProdutoVirtual extends Produto {</a:t>
            </a:r>
          </a:p>
          <a:p>
            <a:pPr algn="l"/>
            <a:endParaRPr sz="13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    private Boolean pago;</a:t>
            </a:r>
          </a:p>
          <a:p>
            <a:pPr algn="l"/>
            <a:r>
              <a:rPr sz="13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97680"/>
            <a:ext cx="11430000" cy="41148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O que cada anotação faz nas subclasses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2286000" cy="71323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extends Produto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5488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Herda todos os campos de Produto (id, nome, preço, descrição, categoria)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754880"/>
            <a:ext cx="2286000" cy="71323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4754880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@Table(name="...")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8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Cria uma tabela própria apenas com o campo extra (peso ou pago)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23560"/>
            <a:ext cx="2286000" cy="71323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623560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@DiscriminatorValue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62356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Grava "fisico" ou "virtual" na coluna "tipo" da tabela produtos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623560"/>
            <a:ext cx="2286000" cy="71323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5623560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Campo extra (peso/pago)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62356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Fica somente na tabela filha; o JOIN recupera os dados completos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Diagrama de Relacionamentos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Herança JOINED + Associação 1:N entre Categoria e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560320" cy="2926080"/>
          </a:xfrm>
          <a:prstGeom prst="rect">
            <a:avLst/>
          </a:prstGeom>
          <a:solidFill>
            <a:srgbClr val="1A539E"/>
          </a:solidFill>
          <a:ln w="2540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Categoria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25603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id: 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27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nome: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027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Segoe UI"/>
              </a:rPr>
              <a:t>produtos: List&lt;Produto&gt;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39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39E"/>
                </a:solidFill>
                <a:latin typeface="Segoe UI"/>
              </a:rPr>
              <a:t>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39E"/>
                </a:solidFill>
                <a:latin typeface="Segoe UI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39E"/>
                </a:solidFill>
                <a:latin typeface="Segoe UI"/>
              </a:rPr>
              <a:t>1 Categoria → N Produtos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2651760" cy="3840480"/>
          </a:xfrm>
          <a:prstGeom prst="rect">
            <a:avLst/>
          </a:prstGeom>
          <a:solidFill>
            <a:srgbClr val="333333"/>
          </a:solidFill>
          <a:ln w="2540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1371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«abstract»
Produto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057400"/>
            <a:ext cx="26517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id: Long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578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nome: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054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preco: Double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295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descricao: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005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  <a:latin typeface="Segoe UI"/>
              </a:rPr>
              <a:t>categoria: Categoria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13145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1A7A4A"/>
                </a:solidFill>
                <a:latin typeface="Segoe UI"/>
              </a:rPr>
              <a:t>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04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B2D8E"/>
                </a:solidFill>
                <a:latin typeface="Segoe UI"/>
              </a:rPr>
              <a:t>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5486400"/>
            <a:ext cx="2011680" cy="5486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0" y="5577840"/>
            <a:ext cx="2926080" cy="1051560"/>
          </a:xfrm>
          <a:prstGeom prst="rect">
            <a:avLst/>
          </a:prstGeom>
          <a:solidFill>
            <a:srgbClr val="1A7A4A"/>
          </a:solidFill>
          <a:ln w="2540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557784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ProdutoFísico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peso: Float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  <a:latin typeface="Segoe UI"/>
              </a:rPr>
              <a:t>@DiscriminatorValue("fisico")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5577840"/>
            <a:ext cx="2926080" cy="1051560"/>
          </a:xfrm>
          <a:prstGeom prst="rect">
            <a:avLst/>
          </a:prstGeom>
          <a:solidFill>
            <a:srgbClr val="5B2D8E"/>
          </a:solidFill>
          <a:ln w="2540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57784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ProdutoVirtual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989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pago: Boolean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  <a:latin typeface="Segoe UI"/>
              </a:rPr>
              <a:t>@DiscriminatorValue("virtual")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  <a:latin typeface="Segoe UI"/>
              </a:rPr>
              <a:t>▲ = herança (extends)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Acesso ao banco de dados via Spring Data JPA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73152"/>
            <a:ext cx="2011680" cy="41148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73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94360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// Sem nenhum código, já temos: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// save(), findById(), findAll(), deleteById(), count() ...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public interface CategoriaRepository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extends JpaRepository&lt;Categoria, Long&gt; {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// Gerado pelo nome do método: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Categoria findByNome(String nome);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}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public interface ProdutoRepository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extends JpaRepository&lt;Produto, Long&gt; {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List&lt;Produto&gt; findByNome(String nome);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List&lt;Produto&gt; findByPrecoLessThan(Double max);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List&lt;Produto&gt; findByNomeContaining(String termo);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// Consulta JPQL manual: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@Query("SELECT p FROM Produto p WHERE p.preco &gt; :min")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List&lt;Produto&gt; buscarAcimaDe(@Param("min") Double min);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303520" cy="1828800"/>
          </a:xfrm>
          <a:prstGeom prst="rect">
            <a:avLst/>
          </a:prstGeom>
          <a:solidFill>
            <a:srgbClr val="FFF0E0"/>
          </a:solidFill>
          <a:ln w="190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5E00"/>
                </a:solidFill>
                <a:latin typeface="Segoe UI"/>
              </a:rPr>
              <a:t>JpaRepository&lt;T, ID&gt; fornece gratuitamente: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• save(T)  →  INSERT ou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391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• findById(ID)  →  SELECT por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951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• findAll()  →  SELECT todos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511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• deleteById(ID)  →  DELETE por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072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• count()  →  conta registros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291840"/>
            <a:ext cx="5303520" cy="1371600"/>
          </a:xfrm>
          <a:prstGeom prst="rect">
            <a:avLst/>
          </a:prstGeom>
          <a:solidFill>
            <a:srgbClr val="D6E4F7"/>
          </a:solidFill>
          <a:ln w="1905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9E"/>
                </a:solidFill>
                <a:latin typeface="Segoe UI"/>
              </a:rPr>
              <a:t>Consulta por nome do método: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Spring lê o nome do método e gera o SQL automaticamente.
"findByPrecoLessThan" vira: WHERE preco &lt; ?
"findByNomeContaining" vira: WHERE nome LIKE %?%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754880"/>
            <a:ext cx="530352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800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A"/>
                </a:solidFill>
                <a:latin typeface="Segoe UI"/>
              </a:rPr>
              <a:t>@Query — consulta JPQL personalizada: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Quando o nome do método não é suficiente,
escrevemos a query em JPQL (parecido com SQL, mas
usa nome da classe e não da tabela).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Lógica de negócio, validações e controle de transações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73152"/>
            <a:ext cx="1463040" cy="4114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731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852160" cy="516636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57784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@Service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public class CategoriaService {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@Autowired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private CategoriaRepository repository;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public List&lt;Categoria&gt; listar() 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return repository.findAll();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}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public Optional&lt;Categoria&gt; buscar(Long id) 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return repository.findById(id);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}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@Transactional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public Categoria salvar(Categoria c) 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return repository.save(c);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}</a:t>
            </a:r>
          </a:p>
          <a:p>
            <a:pPr algn="l"/>
            <a:endParaRPr sz="115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@Transactional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public boolean remover(Long id) 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if (repository.existsById(id)) 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    repository.deleteById(id);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    return true;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}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    return false;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    }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94960" cy="1143000"/>
          </a:xfrm>
          <a:prstGeom prst="rect">
            <a:avLst/>
          </a:prstGeom>
          <a:solidFill>
            <a:srgbClr val="F9F9F9"/>
          </a:solidFill>
          <a:ln w="2540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1920240" cy="4389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@Service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4475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Registra a classe no container do Spring (IoC).
Permite injetar o Service em outros componentes.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51760"/>
            <a:ext cx="5394960" cy="1143000"/>
          </a:xfrm>
          <a:prstGeom prst="rect">
            <a:avLst/>
          </a:prstGeom>
          <a:solidFill>
            <a:srgbClr val="F9F9F9"/>
          </a:solidFill>
          <a:ln w="2540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192024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@Autowired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2491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Injeta automaticamente o Repository.
O Spring resolve a dependência sem new.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94960" cy="1143000"/>
          </a:xfrm>
          <a:prstGeom prst="rect">
            <a:avLst/>
          </a:prstGeom>
          <a:solidFill>
            <a:srgbClr val="F9F9F9"/>
          </a:solidFill>
          <a:ln w="254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1920240" cy="438912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@Transactional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0507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Operações de escrita (salvar, remover, atualizar)
devem ser atômicas: ou tudo funciona ou nada é salvo.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212080"/>
            <a:ext cx="5394960" cy="1143000"/>
          </a:xfrm>
          <a:prstGeom prst="rect">
            <a:avLst/>
          </a:prstGeom>
          <a:solidFill>
            <a:srgbClr val="F9F9F9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5212080"/>
            <a:ext cx="1920240" cy="43891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21208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Optional&lt;T&gt;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28523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Segoe UI"/>
              </a:rPr>
              <a:t>Evita NullPointerException: em vez de retornar null
quando não acha, retorna Optional.empty().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Camada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Interface HTTP da aplicação — expõe os endpoints da 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73152"/>
            <a:ext cx="2103120" cy="41148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31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852160" cy="516636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57784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@RestController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@RequestMapping("/categorias")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public class CategoriaController {</a:t>
            </a:r>
          </a:p>
          <a:p>
            <a:pPr algn="l"/>
            <a:endParaRPr sz="11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@Autowired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private CategoriaService service;</a:t>
            </a:r>
          </a:p>
          <a:p>
            <a:pPr algn="l"/>
            <a:endParaRPr sz="11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@GetMapping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public List&lt;Categoria&gt; listar() {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return service.listar();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}</a:t>
            </a:r>
          </a:p>
          <a:p>
            <a:pPr algn="l"/>
            <a:endParaRPr sz="11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@PostMapping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public ResponseEntity&lt;Categoria&gt; criar(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@RequestBody Categoria c) {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Categoria salva = service.salvar(c);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URI uri = ServletUriComponentsBuilder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.fromCurrentRequest().path("/{id}")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.buildAndExpand(salva.getId()).toUri();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return ResponseEntity.created(uri).body(salva);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}</a:t>
            </a:r>
          </a:p>
          <a:p>
            <a:pPr algn="l"/>
            <a:endParaRPr sz="110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@DeleteMapping("/{id}")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public ResponseEntity&lt;Void&gt; remover(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@PathVariable Long id) {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return service.remover(id)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? ResponseEntity.noContent().build()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        : ResponseEntity.notFound().build();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  }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1005840" cy="3657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Método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17320"/>
            <a:ext cx="2011680" cy="3657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Caminho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417320"/>
            <a:ext cx="1463040" cy="3657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Código HTTP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1417320"/>
            <a:ext cx="2514600" cy="3657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14173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O que faz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10058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783080"/>
            <a:ext cx="201168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783080"/>
            <a:ext cx="14630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789920" y="1783080"/>
            <a:ext cx="251460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914400" cy="36576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7830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/categorias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7830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200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Lista todas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2295144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26880" y="229514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89920" y="2295144"/>
            <a:ext cx="2514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2340864"/>
            <a:ext cx="914400" cy="36576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3408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29514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/categorias/{id}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29514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200 / 404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22951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Busca por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807208"/>
            <a:ext cx="10058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0" y="2807208"/>
            <a:ext cx="201168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326880" y="2807208"/>
            <a:ext cx="14630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89920" y="2807208"/>
            <a:ext cx="251460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2852928"/>
            <a:ext cx="914400" cy="365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8529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8072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/categorias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280720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201 Created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0" y="28072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Cria nova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31927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15200" y="331927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326880" y="33192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789920" y="3319272"/>
            <a:ext cx="2514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3364992"/>
            <a:ext cx="914400" cy="36576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9360" y="33649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31927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/categorias/{id}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33192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200 / 404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33192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Atualiza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831336"/>
            <a:ext cx="10058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5200" y="3831336"/>
            <a:ext cx="201168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326880" y="3831336"/>
            <a:ext cx="146304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789920" y="3831336"/>
            <a:ext cx="2514600" cy="457200"/>
          </a:xfrm>
          <a:prstGeom prst="rect">
            <a:avLst/>
          </a:prstGeom>
          <a:solidFill>
            <a:srgbClr val="D6E4F7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09360" y="3877056"/>
            <a:ext cx="914400" cy="36576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09360" y="38770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DELETE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38313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/categorias/{id}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3831336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204 No Content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38313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Segoe UI"/>
              </a:rPr>
              <a:t>Remove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069080"/>
            <a:ext cx="5669280" cy="822960"/>
          </a:xfrm>
          <a:prstGeom prst="rect">
            <a:avLst/>
          </a:prstGeom>
          <a:solidFill>
            <a:srgbClr val="FFF0E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0" y="4114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5E00"/>
                </a:solidFill>
                <a:latin typeface="Segoe UI"/>
              </a:rPr>
              <a:t>ResponseEntity&lt;T&gt;  →  permite definir o código HTTP da resposta (200, 201, 204, 404…)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@PathVariable capta o {id} da URL  |  @RequestBody converte o JSON em objeto Java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029200"/>
            <a:ext cx="5669280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5074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9E"/>
                </a:solidFill>
                <a:latin typeface="Segoe UI"/>
              </a:rPr>
              <a:t>Por que 201 Created retorna uma URI?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53949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O cabeçalho Location informa ao cliente onde encontrar
o recurso criado. Exemplo:
Location: http://localhost:8080/categorias/5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Fluxo Completo: POST /produtos/fisicos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Do JSON recebido até o registro salvo no banco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1874519" cy="2103120"/>
          </a:xfrm>
          <a:prstGeom prst="rect">
            <a:avLst/>
          </a:prstGeom>
          <a:solidFill>
            <a:srgbClr val="1A539E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39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Envia POST com JSON:
{"nome":"Cadeira","preco":299.9,"peso":8.5}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9" y="352044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2" y="1371600"/>
            <a:ext cx="1874519" cy="2103120"/>
          </a:xfrm>
          <a:prstGeom prst="rect">
            <a:avLst/>
          </a:prstGeom>
          <a:solidFill>
            <a:srgbClr val="B02323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53512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2323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@RequestBody converte o JSON em ProdutoFisico.
Chama produtoFisicoService.salvar(p)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1" y="352044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1371600"/>
            <a:ext cx="1874519" cy="2103120"/>
          </a:xfrm>
          <a:prstGeom prst="rect">
            <a:avLst/>
          </a:prstGeom>
          <a:solidFill>
            <a:srgbClr val="5B2D8E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46904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46904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2D8E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@Transactional garante atomicidade.
Aplica regras e chama repository.save(p)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3" y="352044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1371600"/>
            <a:ext cx="1874519" cy="2103120"/>
          </a:xfrm>
          <a:prstGeom prst="rect">
            <a:avLst/>
          </a:prstGeom>
          <a:solidFill>
            <a:srgbClr val="C45E00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0296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0296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5E0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JPA gera o SQL:
INSERT INTO produtos + INSERT INTO produtos_fisicos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5" y="352044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1371600"/>
            <a:ext cx="1874519" cy="2103120"/>
          </a:xfrm>
          <a:prstGeom prst="rect">
            <a:avLst/>
          </a:prstGeom>
          <a:solidFill>
            <a:srgbClr val="1A7A4A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33688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33688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4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Banco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Persiste nas tabelas "produtos" e "produtos_fisicos".
Retorna o id gerado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7" y="352044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39E"/>
                </a:solidFill>
                <a:latin typeface="Segoe U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371600"/>
            <a:ext cx="1874519" cy="2103120"/>
          </a:xfrm>
          <a:prstGeom prst="rect">
            <a:avLst/>
          </a:prstGeom>
          <a:solidFill>
            <a:srgbClr val="B02323"/>
          </a:solidFill>
          <a:ln w="19050">
            <a:solidFill>
              <a:srgbClr val="0D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927080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27080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2323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175564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194560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Monta ResponseEntity com 201 Created
e cabeçalho Location: /produtos/fisicos/1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749039"/>
            <a:ext cx="11704320" cy="822960"/>
          </a:xfrm>
          <a:prstGeom prst="rect">
            <a:avLst/>
          </a:prstGeom>
          <a:solidFill>
            <a:srgbClr val="D6E4F7"/>
          </a:solidFill>
          <a:ln w="1905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9E"/>
                </a:solidFill>
                <a:latin typeface="Segoe UI"/>
              </a:rPr>
              <a:t>Resposta ao cliente: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767328"/>
            <a:ext cx="923544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97480" y="3858768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HTTP 201 Created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Location: http://localhost:8080/produtos/fisicos/1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urier New"/>
              </a:rPr>
              <a:t>Body: { "id":1, "nome":"Cadeira", "preco":299.9, "peso":8.5 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754880"/>
            <a:ext cx="11704320" cy="960120"/>
          </a:xfrm>
          <a:prstGeom prst="rect">
            <a:avLst/>
          </a:prstGeom>
          <a:solidFill>
            <a:srgbClr val="F0E8FF"/>
          </a:solidFill>
          <a:ln w="190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D8E"/>
                </a:solidFill>
                <a:latin typeface="Segoe UI"/>
              </a:rPr>
              <a:t>Ponto-chave: por que a separação importa aqui?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120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►  O Controller não sabe nada sobre SQL — apenas fala com o Service.</a:t>
            </a:r>
          </a:p>
          <a:p>
            <a:pPr algn="l">
              <a:spcBef>
                <a:spcPts val="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►  O Service não sabe nada sobre HTTP — apenas aplica regras e fala com o Repository.</a:t>
            </a:r>
          </a:p>
          <a:p>
            <a:pPr algn="l">
              <a:spcBef>
                <a:spcPts val="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►  O Repository não sabe nada sobre as regras do negócio — apenas persiste dados.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Repository das Subclasses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ProdutoFisicoRepository e ProdutoVirtualRepository com queries específicas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73152"/>
            <a:ext cx="2011680" cy="41148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73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897495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50" dirty="0">
                <a:solidFill>
                  <a:srgbClr val="1E1E1E"/>
                </a:solidFill>
                <a:latin typeface="Courier New"/>
              </a:rPr>
              <a:t>P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u</a:t>
            </a:r>
            <a:endParaRPr lang="pt-BR" sz="1250" dirty="0">
              <a:solidFill>
                <a:srgbClr val="1E1E1E"/>
              </a:solidFill>
              <a:latin typeface="Courier New"/>
            </a:endParaRPr>
          </a:p>
          <a:p>
            <a:pPr algn="l"/>
            <a:endParaRPr lang="pt-BR"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 err="1">
                <a:solidFill>
                  <a:srgbClr val="1E1E1E"/>
                </a:solidFill>
                <a:latin typeface="Courier New"/>
              </a:rPr>
              <a:t>blic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interface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ProdutoFisicoRepository</a:t>
            </a:r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  extends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JpaRepository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&lt;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ProdutoFisico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, Long&gt; {</a:t>
            </a:r>
          </a:p>
          <a:p>
            <a:pPr algn="l"/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//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Busca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físicos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com peso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menor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que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o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informado</a:t>
            </a:r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List&lt;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ProdutoFisico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&gt;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findByPesoLessThan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(</a:t>
            </a: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    Float peso);</a:t>
            </a: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760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4897495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pt-BR" sz="1250" dirty="0">
              <a:solidFill>
                <a:srgbClr val="1E1E1E"/>
              </a:solidFill>
              <a:latin typeface="Courier New"/>
            </a:endParaRPr>
          </a:p>
          <a:p>
            <a:pPr algn="l"/>
            <a:endParaRPr lang="pt-BR"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lang="pt-BR" sz="1250" dirty="0">
                <a:solidFill>
                  <a:srgbClr val="1E1E1E"/>
                </a:solidFill>
                <a:latin typeface="Courier New"/>
              </a:rPr>
              <a:t>p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ublic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interface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ProdutoVirtualRepository</a:t>
            </a:r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  extends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JpaRepository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&lt;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ProdutoVirtual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, Long&gt; {</a:t>
            </a:r>
          </a:p>
          <a:p>
            <a:pPr algn="l"/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//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Busca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virtuais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por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 status de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pagamento</a:t>
            </a:r>
            <a:endParaRPr sz="1250" dirty="0">
              <a:solidFill>
                <a:srgbClr val="1E1E1E"/>
              </a:solidFill>
              <a:latin typeface="Courier New"/>
            </a:endParaRP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List&lt;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ProdutoVirtual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&gt;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findByPago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(</a:t>
            </a: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      Boolean </a:t>
            </a:r>
            <a:r>
              <a:rPr sz="1250" dirty="0" err="1">
                <a:solidFill>
                  <a:srgbClr val="1E1E1E"/>
                </a:solidFill>
                <a:latin typeface="Courier New"/>
              </a:rPr>
              <a:t>pago</a:t>
            </a:r>
            <a:r>
              <a:rPr sz="1250" dirty="0">
                <a:solidFill>
                  <a:srgbClr val="1E1E1E"/>
                </a:solidFill>
                <a:latin typeface="Courier New"/>
              </a:rPr>
              <a:t>);</a:t>
            </a:r>
          </a:p>
          <a:p>
            <a:pPr algn="l"/>
            <a:r>
              <a:rPr sz="1250" dirty="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320040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ProdutoFisicoRepository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3200400" cy="38404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ProdutoVirtualRepository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30000" cy="1005840"/>
          </a:xfrm>
          <a:prstGeom prst="rect">
            <a:avLst/>
          </a:prstGeom>
          <a:solidFill>
            <a:srgbClr val="FFF0E0"/>
          </a:solidFill>
          <a:ln w="190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5E00"/>
                </a:solidFill>
                <a:latin typeface="Segoe UI"/>
              </a:rPr>
              <a:t>Como o JPA executa as queries nas subclasses?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Ao chamar findAll() em ProdutoFisicoRepository, o JPA gera automaticamente um JOIN entre "produtos" e "produtos_fisicos", retornando apenas registros onde tipo = 'fisico'. Você não precisa escrever nenhum SQL para isso.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83480"/>
            <a:ext cx="114300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>
                <a:solidFill>
                  <a:srgbClr val="1E1E1E"/>
                </a:solidFill>
                <a:latin typeface="Courier New"/>
              </a:rPr>
              <a:t>SELECT p.id, p.nome, p.preco, p.descricao, p.categoria_id, pf.peso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urier New"/>
              </a:rPr>
              <a:t>FROM produtos p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urier New"/>
              </a:rPr>
              <a:t>INNER JOIN produtos_fisicos pf ON p.id = pf.id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urier New"/>
              </a:rPr>
              <a:t>WHERE p.tipo = 'fisico'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990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  <a:latin typeface="Segoe UI"/>
              </a:rPr>
              <a:t>↑  SQL gerado automaticamente pelo Hibernate ao usar a estratégia JOINED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Recapitulação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O que aprendemos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423160"/>
          </a:xfrm>
          <a:prstGeom prst="rect">
            <a:avLst/>
          </a:prstGeom>
          <a:solidFill>
            <a:srgbClr val="1A1A3A"/>
          </a:solidFill>
          <a:ln w="317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Mapeia a estrutura do banco com @Entity e @Table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00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Define os campos e suas restrições com @Column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9806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Representa relacionamentos: @ManyToOne, @OneToMany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Suporta herança JPA: @Inheritance + @DiscriminatorColumn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669280" cy="2423160"/>
          </a:xfrm>
          <a:prstGeom prst="rect">
            <a:avLst/>
          </a:prstGeom>
          <a:solidFill>
            <a:srgbClr val="1A1A3A"/>
          </a:solidFill>
          <a:ln w="317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669280" cy="457200"/>
          </a:xfrm>
          <a:prstGeom prst="rect">
            <a:avLst/>
          </a:prstGeom>
          <a:solidFill>
            <a:srgbClr val="C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Estende JpaRepository e herda CRUD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00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Cria queries pelo nome do método (findBy...)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9806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Suporta consultas JPQL com @Query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Trabalha com a entidade concreta (ex.: ProdutoFisico)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77640"/>
            <a:ext cx="5669280" cy="2423160"/>
          </a:xfrm>
          <a:prstGeom prst="rect">
            <a:avLst/>
          </a:prstGeom>
          <a:solidFill>
            <a:srgbClr val="1A1A3A"/>
          </a:solidFill>
          <a:ln w="317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5669280" cy="4572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3977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0799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Contém a lógica de negócio da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5604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Injeta o Repository com @Autowired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40410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Usa @Transactional nas operações de escrita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5216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Devolve Optional&lt;T&gt; para evitar NullPointerException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77640"/>
            <a:ext cx="5669280" cy="2423160"/>
          </a:xfrm>
          <a:prstGeom prst="rect">
            <a:avLst/>
          </a:prstGeom>
          <a:solidFill>
            <a:srgbClr val="1A1A3A"/>
          </a:solidFill>
          <a:ln w="31750">
            <a:solidFill>
              <a:srgbClr val="B0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977640"/>
            <a:ext cx="5669280" cy="457200"/>
          </a:xfrm>
          <a:prstGeom prst="rect">
            <a:avLst/>
          </a:prstGeom>
          <a:solidFill>
            <a:srgbClr val="B0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77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0799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Anota a classe com @RestController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5604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Define rotas com @RequestMapping e @GetMapping, etc.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0410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Recebe dados via @RequestBody e @PathVariable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85216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✔  Retorna ResponseEntity com o código HTTP correto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Seu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Segoe UI"/>
              </a:rPr>
              <a:t>Agora é a sua vez — aplique o mesmo padrão em um novo domínio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4023360"/>
          </a:xfrm>
          <a:prstGeom prst="rect">
            <a:avLst/>
          </a:prstGeom>
          <a:solidFill>
            <a:srgbClr val="D6E4F7"/>
          </a:solidFill>
          <a:ln w="19050">
            <a:solidFill>
              <a:srgbClr val="1A5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5A"/>
                </a:solidFill>
                <a:latin typeface="Segoe UI"/>
              </a:rPr>
              <a:t>Crie um projeto Spring Boot com a mesma estrutura de camadas, usando um domínio diferente.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9E"/>
                </a:solidFill>
                <a:latin typeface="Segoe UI"/>
              </a:rPr>
              <a:t>Requisitos obrigatórios: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1.  Mínimo de 1 classe "pai" com herança (InheritanceType.JOINED)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2.  Mínimo de 2 subclasses com campos exclusivos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3.  Pelo menos 1 relacionamento 1:N entre duas entidades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7530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4.  Uma interface Repository para cada entidade, com pelo menos 1 método personalizado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5.  Um Service para cada entidade com os 5 métodos CRUD + @Transactional nas escritas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6.  Um Controller para cada entidade com os 5 endpoints (GET, POST, PATCH,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7.  API testada com Postman ou Insomnia (inclua prints no relatório)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77840"/>
            <a:ext cx="11430000" cy="1005840"/>
          </a:xfrm>
          <a:prstGeom prst="rect">
            <a:avLst/>
          </a:prstGeom>
          <a:solidFill>
            <a:srgbClr val="E8F5E9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A"/>
                </a:solidFill>
                <a:latin typeface="Segoe UI"/>
              </a:rPr>
              <a:t>Exemplos de domínios: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Segoe UI"/>
              </a:rPr>
              <a:t>Biblioteca (Livro → LivroFísico, LivroDigital)   |   Veículos (Veiculo → Carro, Moto)   |   Ingressos (Ingresso → Presencial, Online)   |   Funcionários (Funcionario → CLT, PJ)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2358</Words>
  <Application>Microsoft Office PowerPoint</Application>
  <PresentationFormat>Personalizar</PresentationFormat>
  <Paragraphs>403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Pires</cp:lastModifiedBy>
  <cp:revision>3</cp:revision>
  <dcterms:created xsi:type="dcterms:W3CDTF">2013-01-27T09:14:16Z</dcterms:created>
  <dcterms:modified xsi:type="dcterms:W3CDTF">2026-05-29T21:35:06Z</dcterms:modified>
  <cp:category/>
</cp:coreProperties>
</file>